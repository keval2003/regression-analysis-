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10"/>
  </p:notesMasterIdLst>
  <p:sldIdLst>
    <p:sldId id="256" r:id="rId2"/>
    <p:sldId id="257" r:id="rId3"/>
    <p:sldId id="258" r:id="rId4"/>
    <p:sldId id="263" r:id="rId5"/>
    <p:sldId id="264" r:id="rId6"/>
    <p:sldId id="261" r:id="rId7"/>
    <p:sldId id="262"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5" d="100"/>
          <a:sy n="65" d="100"/>
        </p:scale>
        <p:origin x="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C27072-DBAD-48DF-B6EB-C66218900201}" type="datetimeFigureOut">
              <a:rPr lang="en-IN" smtClean="0"/>
              <a:t>11-06-2022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9BA2A-5E58-44C6-8632-38DFCA1D14D8}" type="slidenum">
              <a:rPr lang="en-IN" smtClean="0"/>
              <a:t>‹#›</a:t>
            </a:fld>
            <a:endParaRPr lang="en-IN"/>
          </a:p>
        </p:txBody>
      </p:sp>
    </p:spTree>
    <p:extLst>
      <p:ext uri="{BB962C8B-B14F-4D97-AF65-F5344CB8AC3E}">
        <p14:creationId xmlns:p14="http://schemas.microsoft.com/office/powerpoint/2010/main" val="2245180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237747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1320770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516472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697668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2895113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3141274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103516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13954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1444723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1105307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279105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845057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1481313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409586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FE91ABA-BAB3-4EDC-A723-26A176A41759}" type="datetimeFigureOut">
              <a:rPr lang="en-IN" smtClean="0"/>
              <a:t>11-06-2022</a:t>
            </a:fld>
            <a:endParaRPr lang="en-IN" dirty="0"/>
          </a:p>
        </p:txBody>
      </p:sp>
      <p:sp>
        <p:nvSpPr>
          <p:cNvPr id="8" name="Footer Placeholder 7"/>
          <p:cNvSpPr>
            <a:spLocks noGrp="1"/>
          </p:cNvSpPr>
          <p:nvPr>
            <p:ph type="ftr" sz="quarter" idx="11"/>
          </p:nvPr>
        </p:nvSpPr>
        <p:spPr>
          <a:xfrm>
            <a:off x="561111" y="6391838"/>
            <a:ext cx="3644282" cy="304801"/>
          </a:xfrm>
        </p:spPr>
        <p:txBody>
          <a:bodyPr/>
          <a:lstStyle/>
          <a:p>
            <a:endParaRPr lang="en-IN" dirty="0"/>
          </a:p>
        </p:txBody>
      </p:sp>
      <p:sp>
        <p:nvSpPr>
          <p:cNvPr id="9" name="Slide Number Placeholder 8"/>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471069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2823288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FE91ABA-BAB3-4EDC-A723-26A176A41759}" type="datetimeFigureOut">
              <a:rPr lang="en-IN" smtClean="0"/>
              <a:t>11-06-2022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6B5C415-39C4-41E1-8AD7-D80E0A7787AB}" type="slidenum">
              <a:rPr lang="en-IN" smtClean="0"/>
              <a:t>‹#›</a:t>
            </a:fld>
            <a:endParaRPr lang="en-IN" dirty="0"/>
          </a:p>
        </p:txBody>
      </p:sp>
    </p:spTree>
    <p:extLst>
      <p:ext uri="{BB962C8B-B14F-4D97-AF65-F5344CB8AC3E}">
        <p14:creationId xmlns:p14="http://schemas.microsoft.com/office/powerpoint/2010/main" val="285499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FE91ABA-BAB3-4EDC-A723-26A176A41759}" type="datetimeFigureOut">
              <a:rPr lang="en-IN" smtClean="0"/>
              <a:t>11-06-2022</a:t>
            </a:fld>
            <a:endParaRPr lang="en-IN"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6B5C415-39C4-41E1-8AD7-D80E0A7787AB}" type="slidenum">
              <a:rPr lang="en-IN" smtClean="0"/>
              <a:t>‹#›</a:t>
            </a:fld>
            <a:endParaRPr lang="en-IN" dirty="0"/>
          </a:p>
        </p:txBody>
      </p:sp>
    </p:spTree>
    <p:extLst>
      <p:ext uri="{BB962C8B-B14F-4D97-AF65-F5344CB8AC3E}">
        <p14:creationId xmlns:p14="http://schemas.microsoft.com/office/powerpoint/2010/main" val="342661657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ata.world/indoagri/indian-year-wise-crop-production/workspace/file?filename=year_wise_indian_crop_production.csv"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CAA4-C3BE-437F-9D83-1FDCE7F32AB5}"/>
              </a:ext>
            </a:extLst>
          </p:cNvPr>
          <p:cNvSpPr>
            <a:spLocks noGrp="1"/>
          </p:cNvSpPr>
          <p:nvPr>
            <p:ph type="ctrTitle"/>
          </p:nvPr>
        </p:nvSpPr>
        <p:spPr>
          <a:xfrm>
            <a:off x="2823417" y="1832968"/>
            <a:ext cx="8825658" cy="1119781"/>
          </a:xfrm>
        </p:spPr>
        <p:txBody>
          <a:bodyPr/>
          <a:lstStyle/>
          <a:p>
            <a:r>
              <a:rPr lang="en-IN" sz="4800" dirty="0">
                <a:solidFill>
                  <a:srgbClr val="FFC000"/>
                </a:solidFill>
              </a:rPr>
              <a:t>REGRESSION ANALYSIS</a:t>
            </a:r>
          </a:p>
        </p:txBody>
      </p:sp>
      <p:sp>
        <p:nvSpPr>
          <p:cNvPr id="3" name="Subtitle 2">
            <a:extLst>
              <a:ext uri="{FF2B5EF4-FFF2-40B4-BE49-F238E27FC236}">
                <a16:creationId xmlns:a16="http://schemas.microsoft.com/office/drawing/2014/main" id="{1D7BA171-04BA-3EDC-3322-92A31E155B3D}"/>
              </a:ext>
            </a:extLst>
          </p:cNvPr>
          <p:cNvSpPr>
            <a:spLocks noGrp="1"/>
          </p:cNvSpPr>
          <p:nvPr>
            <p:ph type="subTitle" idx="1"/>
          </p:nvPr>
        </p:nvSpPr>
        <p:spPr>
          <a:xfrm>
            <a:off x="1683171" y="1400174"/>
            <a:ext cx="8825658" cy="861420"/>
          </a:xfrm>
        </p:spPr>
        <p:txBody>
          <a:bodyPr>
            <a:normAutofit fontScale="92500" lnSpcReduction="10000"/>
          </a:bodyPr>
          <a:lstStyle/>
          <a:p>
            <a:r>
              <a:rPr lang="en-IN" sz="6000" dirty="0">
                <a:solidFill>
                  <a:srgbClr val="FFC000"/>
                </a:solidFill>
                <a:latin typeface="Arial Black" panose="020B0A04020102020204" pitchFamily="34" charset="0"/>
              </a:rPr>
              <a:t>Stamatics project</a:t>
            </a:r>
          </a:p>
          <a:p>
            <a:endParaRPr lang="en-IN" dirty="0"/>
          </a:p>
        </p:txBody>
      </p:sp>
      <p:sp>
        <p:nvSpPr>
          <p:cNvPr id="4" name="Title 1">
            <a:extLst>
              <a:ext uri="{FF2B5EF4-FFF2-40B4-BE49-F238E27FC236}">
                <a16:creationId xmlns:a16="http://schemas.microsoft.com/office/drawing/2014/main" id="{7993C2C9-3ED1-5C1F-C9D9-923D83F3218C}"/>
              </a:ext>
            </a:extLst>
          </p:cNvPr>
          <p:cNvSpPr txBox="1">
            <a:spLocks/>
          </p:cNvSpPr>
          <p:nvPr/>
        </p:nvSpPr>
        <p:spPr bwMode="gray">
          <a:xfrm>
            <a:off x="3261567" y="2739335"/>
            <a:ext cx="8825658" cy="1119781"/>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600" dirty="0">
                <a:latin typeface="Arial Black" panose="020B0A04020102020204" pitchFamily="34" charset="0"/>
              </a:rPr>
              <a:t>Group 3 </a:t>
            </a:r>
            <a:r>
              <a:rPr lang="en-IN" sz="3600" dirty="0"/>
              <a:t>-  Presentation</a:t>
            </a:r>
          </a:p>
        </p:txBody>
      </p:sp>
      <p:sp>
        <p:nvSpPr>
          <p:cNvPr id="5" name="Title 1">
            <a:extLst>
              <a:ext uri="{FF2B5EF4-FFF2-40B4-BE49-F238E27FC236}">
                <a16:creationId xmlns:a16="http://schemas.microsoft.com/office/drawing/2014/main" id="{D55B46F1-5EE8-1D75-A626-B83B6A624AE7}"/>
              </a:ext>
            </a:extLst>
          </p:cNvPr>
          <p:cNvSpPr txBox="1">
            <a:spLocks/>
          </p:cNvSpPr>
          <p:nvPr/>
        </p:nvSpPr>
        <p:spPr bwMode="gray">
          <a:xfrm>
            <a:off x="8185992" y="4642845"/>
            <a:ext cx="8825658" cy="1119781"/>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400" dirty="0">
                <a:latin typeface="Arial" panose="020B0604020202020204" pitchFamily="34" charset="0"/>
                <a:cs typeface="Arial" panose="020B0604020202020204" pitchFamily="34" charset="0"/>
              </a:rPr>
              <a:t>Harish Mehta 200404</a:t>
            </a:r>
          </a:p>
          <a:p>
            <a:r>
              <a:rPr lang="en-IN" sz="2400" dirty="0">
                <a:latin typeface="Arial" panose="020B0604020202020204" pitchFamily="34" charset="0"/>
                <a:cs typeface="Arial" panose="020B0604020202020204" pitchFamily="34" charset="0"/>
              </a:rPr>
              <a:t>Keval Solanki 200991</a:t>
            </a:r>
          </a:p>
        </p:txBody>
      </p:sp>
    </p:spTree>
    <p:extLst>
      <p:ext uri="{BB962C8B-B14F-4D97-AF65-F5344CB8AC3E}">
        <p14:creationId xmlns:p14="http://schemas.microsoft.com/office/powerpoint/2010/main" val="2805832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E8C75-0043-99FF-AA13-CD41D7E65C0C}"/>
              </a:ext>
            </a:extLst>
          </p:cNvPr>
          <p:cNvSpPr>
            <a:spLocks noGrp="1"/>
          </p:cNvSpPr>
          <p:nvPr>
            <p:ph type="title"/>
          </p:nvPr>
        </p:nvSpPr>
        <p:spPr>
          <a:xfrm>
            <a:off x="3298079" y="1240368"/>
            <a:ext cx="8761413" cy="706964"/>
          </a:xfrm>
        </p:spPr>
        <p:txBody>
          <a:bodyPr/>
          <a:lstStyle/>
          <a:p>
            <a:r>
              <a:rPr lang="en-IN" dirty="0"/>
              <a:t>Non – Linear Regression</a:t>
            </a:r>
          </a:p>
        </p:txBody>
      </p:sp>
      <p:sp>
        <p:nvSpPr>
          <p:cNvPr id="3" name="Content Placeholder 2">
            <a:extLst>
              <a:ext uri="{FF2B5EF4-FFF2-40B4-BE49-F238E27FC236}">
                <a16:creationId xmlns:a16="http://schemas.microsoft.com/office/drawing/2014/main" id="{9A823D51-2E64-6CC9-AC5C-5D992BD1EA68}"/>
              </a:ext>
            </a:extLst>
          </p:cNvPr>
          <p:cNvSpPr>
            <a:spLocks noGrp="1"/>
          </p:cNvSpPr>
          <p:nvPr>
            <p:ph idx="1"/>
          </p:nvPr>
        </p:nvSpPr>
        <p:spPr>
          <a:xfrm>
            <a:off x="400892" y="2447925"/>
            <a:ext cx="11658600" cy="4181476"/>
          </a:xfrm>
        </p:spPr>
        <p:txBody>
          <a:bodyPr>
            <a:normAutofit fontScale="92500"/>
          </a:bodyPr>
          <a:lstStyle/>
          <a:p>
            <a:r>
              <a:rPr lang="en-US" sz="2400" b="0" i="0" dirty="0">
                <a:solidFill>
                  <a:srgbClr val="111111"/>
                </a:solidFill>
                <a:effectLst/>
                <a:latin typeface="SourceSansPro"/>
              </a:rPr>
              <a:t>Nonlinear regression is a form of regression analysis in which data is fit to a model and then expressed as a mathematical function.</a:t>
            </a:r>
          </a:p>
          <a:p>
            <a:r>
              <a:rPr lang="en-US" sz="2400" b="0" i="0" dirty="0">
                <a:solidFill>
                  <a:srgbClr val="111111"/>
                </a:solidFill>
                <a:effectLst/>
                <a:latin typeface="SourceSansPro"/>
              </a:rPr>
              <a:t> nonlinear regression relates the two variables in a nonlinear (curved) relationship.</a:t>
            </a:r>
          </a:p>
          <a:p>
            <a:r>
              <a:rPr lang="en-US" sz="2400" b="0" i="0" dirty="0">
                <a:solidFill>
                  <a:srgbClr val="202124"/>
                </a:solidFill>
                <a:effectLst/>
                <a:latin typeface="arial" panose="020B0604020202020204" pitchFamily="34" charset="0"/>
              </a:rPr>
              <a:t>Nonlinear regression models are widely used in many applications such as in </a:t>
            </a:r>
            <a:r>
              <a:rPr lang="en-US" sz="2400" b="1" i="0" dirty="0">
                <a:solidFill>
                  <a:srgbClr val="202124"/>
                </a:solidFill>
                <a:effectLst/>
                <a:latin typeface="arial" panose="020B0604020202020204" pitchFamily="34" charset="0"/>
              </a:rPr>
              <a:t>dose-response studies conducted in agricultural sciences, toxicology, and other biological sciences</a:t>
            </a:r>
            <a:r>
              <a:rPr lang="en-US" sz="2400" b="0" i="0" dirty="0">
                <a:solidFill>
                  <a:srgbClr val="202124"/>
                </a:solidFill>
                <a:effectLst/>
                <a:latin typeface="arial" panose="020B0604020202020204" pitchFamily="34" charset="0"/>
              </a:rPr>
              <a:t>.</a:t>
            </a:r>
          </a:p>
          <a:p>
            <a:r>
              <a:rPr lang="en-US" sz="2400" b="1" i="0" dirty="0">
                <a:solidFill>
                  <a:srgbClr val="5F6368"/>
                </a:solidFill>
                <a:effectLst/>
                <a:latin typeface="arial" panose="020B0604020202020204" pitchFamily="34" charset="0"/>
              </a:rPr>
              <a:t>Nonlinear regression</a:t>
            </a:r>
            <a:r>
              <a:rPr lang="en-US" sz="2400" b="0" i="0" dirty="0">
                <a:solidFill>
                  <a:srgbClr val="4D5156"/>
                </a:solidFill>
                <a:effectLst/>
                <a:latin typeface="arial" panose="020B0604020202020204" pitchFamily="34" charset="0"/>
              </a:rPr>
              <a:t> models are important tools in the agricultural field because many crops and soil properties are better represented by nonlinear than linear models.</a:t>
            </a:r>
          </a:p>
          <a:p>
            <a:r>
              <a:rPr lang="en-US" sz="2400" b="0" i="0" dirty="0">
                <a:solidFill>
                  <a:srgbClr val="273239"/>
                </a:solidFill>
                <a:effectLst/>
                <a:latin typeface="urw-din"/>
              </a:rPr>
              <a:t>Non-linear data is usually encountered in daily life.</a:t>
            </a:r>
            <a:endParaRPr lang="en-US" sz="2400" dirty="0">
              <a:solidFill>
                <a:srgbClr val="4D5156"/>
              </a:solidFill>
              <a:latin typeface="arial" panose="020B0604020202020204" pitchFamily="34" charset="0"/>
            </a:endParaRPr>
          </a:p>
          <a:p>
            <a:r>
              <a:rPr lang="en-US" sz="2400" b="0" i="0" dirty="0">
                <a:solidFill>
                  <a:srgbClr val="4D5156"/>
                </a:solidFill>
                <a:effectLst/>
                <a:latin typeface="arial" panose="020B0604020202020204" pitchFamily="34" charset="0"/>
              </a:rPr>
              <a:t>For Example </a:t>
            </a:r>
            <a:r>
              <a:rPr lang="en-IN" sz="2400" b="1" i="0" dirty="0">
                <a:solidFill>
                  <a:srgbClr val="273239"/>
                </a:solidFill>
                <a:effectLst/>
                <a:latin typeface="urw-din"/>
              </a:rPr>
              <a:t>Projectile Motion,</a:t>
            </a:r>
            <a:r>
              <a:rPr lang="en-US" sz="2400" b="1" i="0" dirty="0">
                <a:solidFill>
                  <a:srgbClr val="273239"/>
                </a:solidFill>
                <a:effectLst/>
                <a:latin typeface="urw-din"/>
              </a:rPr>
              <a:t> Equation of motion under free fall</a:t>
            </a:r>
            <a:endParaRPr lang="en-US" sz="2400"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3891056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79E62-912C-D521-AFD4-52CDDA76E7D6}"/>
              </a:ext>
            </a:extLst>
          </p:cNvPr>
          <p:cNvSpPr>
            <a:spLocks noGrp="1"/>
          </p:cNvSpPr>
          <p:nvPr>
            <p:ph type="title"/>
          </p:nvPr>
        </p:nvSpPr>
        <p:spPr>
          <a:xfrm>
            <a:off x="3507629" y="1240368"/>
            <a:ext cx="8761413" cy="706964"/>
          </a:xfrm>
        </p:spPr>
        <p:txBody>
          <a:bodyPr/>
          <a:lstStyle/>
          <a:p>
            <a:r>
              <a:rPr lang="en-IN" dirty="0"/>
              <a:t>Polynomial Regression</a:t>
            </a:r>
          </a:p>
        </p:txBody>
      </p:sp>
      <p:sp>
        <p:nvSpPr>
          <p:cNvPr id="3" name="Content Placeholder 2">
            <a:extLst>
              <a:ext uri="{FF2B5EF4-FFF2-40B4-BE49-F238E27FC236}">
                <a16:creationId xmlns:a16="http://schemas.microsoft.com/office/drawing/2014/main" id="{61634ECA-599B-D648-13C2-8A1A0EA72EB2}"/>
              </a:ext>
            </a:extLst>
          </p:cNvPr>
          <p:cNvSpPr>
            <a:spLocks noGrp="1"/>
          </p:cNvSpPr>
          <p:nvPr>
            <p:ph idx="1"/>
          </p:nvPr>
        </p:nvSpPr>
        <p:spPr>
          <a:xfrm>
            <a:off x="387769" y="2376487"/>
            <a:ext cx="8825659" cy="777875"/>
          </a:xfrm>
        </p:spPr>
        <p:txBody>
          <a:bodyPr>
            <a:normAutofit fontScale="92500" lnSpcReduction="10000"/>
          </a:bodyPr>
          <a:lstStyle/>
          <a:p>
            <a:r>
              <a:rPr lang="en-IN" sz="2400" dirty="0"/>
              <a:t>Equation:</a:t>
            </a:r>
          </a:p>
          <a:p>
            <a:pPr marL="0" indent="0">
              <a:buNone/>
            </a:pPr>
            <a:r>
              <a:rPr lang="en-IN" dirty="0"/>
              <a:t>                          </a:t>
            </a:r>
          </a:p>
        </p:txBody>
      </p:sp>
      <p:pic>
        <p:nvPicPr>
          <p:cNvPr id="5" name="Picture 4">
            <a:extLst>
              <a:ext uri="{FF2B5EF4-FFF2-40B4-BE49-F238E27FC236}">
                <a16:creationId xmlns:a16="http://schemas.microsoft.com/office/drawing/2014/main" id="{53310B40-9487-8C46-1985-71E9691B2D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8572" y="2871778"/>
            <a:ext cx="4653673" cy="557222"/>
          </a:xfrm>
          <a:prstGeom prst="rect">
            <a:avLst/>
          </a:prstGeom>
        </p:spPr>
      </p:pic>
      <p:sp>
        <p:nvSpPr>
          <p:cNvPr id="6" name="TextBox 5">
            <a:extLst>
              <a:ext uri="{FF2B5EF4-FFF2-40B4-BE49-F238E27FC236}">
                <a16:creationId xmlns:a16="http://schemas.microsoft.com/office/drawing/2014/main" id="{6105F61A-52AF-7DC5-C1D2-865A9A688FBB}"/>
              </a:ext>
            </a:extLst>
          </p:cNvPr>
          <p:cNvSpPr txBox="1"/>
          <p:nvPr/>
        </p:nvSpPr>
        <p:spPr>
          <a:xfrm>
            <a:off x="2276475" y="2871778"/>
            <a:ext cx="1873672" cy="584775"/>
          </a:xfrm>
          <a:prstGeom prst="rect">
            <a:avLst/>
          </a:prstGeom>
          <a:noFill/>
        </p:spPr>
        <p:txBody>
          <a:bodyPr wrap="square" rtlCol="0">
            <a:spAutoFit/>
          </a:bodyPr>
          <a:lstStyle/>
          <a:p>
            <a:r>
              <a:rPr lang="en-IN" sz="3200" dirty="0"/>
              <a:t>Y = </a:t>
            </a:r>
          </a:p>
        </p:txBody>
      </p:sp>
      <p:sp>
        <p:nvSpPr>
          <p:cNvPr id="18" name="Content Placeholder 2">
            <a:extLst>
              <a:ext uri="{FF2B5EF4-FFF2-40B4-BE49-F238E27FC236}">
                <a16:creationId xmlns:a16="http://schemas.microsoft.com/office/drawing/2014/main" id="{9AA19314-DA6F-3257-94FA-CE0B599B637F}"/>
              </a:ext>
            </a:extLst>
          </p:cNvPr>
          <p:cNvSpPr txBox="1">
            <a:spLocks/>
          </p:cNvSpPr>
          <p:nvPr/>
        </p:nvSpPr>
        <p:spPr>
          <a:xfrm>
            <a:off x="387768" y="3703639"/>
            <a:ext cx="11804232" cy="849311"/>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sz="9600" dirty="0">
                <a:solidFill>
                  <a:srgbClr val="202124"/>
                </a:solidFill>
                <a:latin typeface="arial" panose="020B0604020202020204" pitchFamily="34" charset="0"/>
              </a:rPr>
              <a:t>P</a:t>
            </a:r>
            <a:r>
              <a:rPr lang="en-US" sz="9600" b="0" i="0" dirty="0">
                <a:solidFill>
                  <a:srgbClr val="202124"/>
                </a:solidFill>
                <a:effectLst/>
                <a:latin typeface="arial" panose="020B0604020202020204" pitchFamily="34" charset="0"/>
              </a:rPr>
              <a:t>olynomial regression is </a:t>
            </a:r>
            <a:r>
              <a:rPr lang="en-US" sz="9600" i="0" dirty="0">
                <a:solidFill>
                  <a:srgbClr val="202124"/>
                </a:solidFill>
                <a:effectLst/>
                <a:latin typeface="arial" panose="020B0604020202020204" pitchFamily="34" charset="0"/>
              </a:rPr>
              <a:t>a form of regression analysis in which the relationship between the independent variable x and the dependent variable y is modelled as an nth degree polynomial in x</a:t>
            </a:r>
            <a:r>
              <a:rPr lang="en-US" sz="2400" i="0" dirty="0">
                <a:solidFill>
                  <a:srgbClr val="202124"/>
                </a:solidFill>
                <a:effectLst/>
                <a:latin typeface="arial" panose="020B0604020202020204" pitchFamily="34" charset="0"/>
              </a:rPr>
              <a:t>...</a:t>
            </a:r>
            <a:endParaRPr lang="en-IN" sz="2400" dirty="0"/>
          </a:p>
          <a:p>
            <a:pPr marL="0" indent="0">
              <a:buFont typeface="Wingdings 3" charset="2"/>
              <a:buNone/>
            </a:pPr>
            <a:r>
              <a:rPr lang="en-IN" dirty="0"/>
              <a:t>                          </a:t>
            </a:r>
          </a:p>
        </p:txBody>
      </p:sp>
    </p:spTree>
    <p:extLst>
      <p:ext uri="{BB962C8B-B14F-4D97-AF65-F5344CB8AC3E}">
        <p14:creationId xmlns:p14="http://schemas.microsoft.com/office/powerpoint/2010/main" val="777538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829B4-DE6E-EA41-BB14-3E19236B73B5}"/>
              </a:ext>
            </a:extLst>
          </p:cNvPr>
          <p:cNvSpPr>
            <a:spLocks noGrp="1"/>
          </p:cNvSpPr>
          <p:nvPr>
            <p:ph type="title"/>
          </p:nvPr>
        </p:nvSpPr>
        <p:spPr/>
        <p:txBody>
          <a:bodyPr/>
          <a:lstStyle/>
          <a:p>
            <a:pPr algn="ctr"/>
            <a:r>
              <a:rPr lang="en-IN" dirty="0"/>
              <a:t>Model : Year-wise Crop production</a:t>
            </a:r>
          </a:p>
        </p:txBody>
      </p:sp>
      <p:sp>
        <p:nvSpPr>
          <p:cNvPr id="3" name="Content Placeholder 2">
            <a:extLst>
              <a:ext uri="{FF2B5EF4-FFF2-40B4-BE49-F238E27FC236}">
                <a16:creationId xmlns:a16="http://schemas.microsoft.com/office/drawing/2014/main" id="{77868742-9A4B-6177-A78C-49CA1215F4CB}"/>
              </a:ext>
            </a:extLst>
          </p:cNvPr>
          <p:cNvSpPr>
            <a:spLocks noGrp="1"/>
          </p:cNvSpPr>
          <p:nvPr>
            <p:ph idx="1"/>
          </p:nvPr>
        </p:nvSpPr>
        <p:spPr/>
        <p:txBody>
          <a:bodyPr/>
          <a:lstStyle/>
          <a:p>
            <a:r>
              <a:rPr lang="en-IN" dirty="0"/>
              <a:t>This regression model is about the data of yearly crop production.</a:t>
            </a:r>
          </a:p>
          <a:p>
            <a:r>
              <a:rPr lang="en-IN" dirty="0"/>
              <a:t>ML model is trained on the data of crop production from the year 1950-51 to 2016-17. It was tested for the years after that, for which it predicted quite well.</a:t>
            </a:r>
          </a:p>
          <a:p>
            <a:r>
              <a:rPr lang="en-IN" dirty="0"/>
              <a:t>Due to the importance of agricultural production in human life, accurate prediction of the production of crops could be really helpful.</a:t>
            </a:r>
          </a:p>
          <a:p>
            <a:r>
              <a:rPr lang="en-IN" dirty="0"/>
              <a:t>Production depends on many factors such as rainfall, natural disasters, land availability, technology development, etc.. But neglecting the factors which are not in our hands, crop production can be predicted pretty accurately with the dataset of year-wise crop production.    </a:t>
            </a:r>
          </a:p>
        </p:txBody>
      </p:sp>
    </p:spTree>
    <p:extLst>
      <p:ext uri="{BB962C8B-B14F-4D97-AF65-F5344CB8AC3E}">
        <p14:creationId xmlns:p14="http://schemas.microsoft.com/office/powerpoint/2010/main" val="297758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00EB4-5909-14B2-F009-E8EC160B1BB4}"/>
              </a:ext>
            </a:extLst>
          </p:cNvPr>
          <p:cNvSpPr>
            <a:spLocks noGrp="1"/>
          </p:cNvSpPr>
          <p:nvPr>
            <p:ph type="title"/>
          </p:nvPr>
        </p:nvSpPr>
        <p:spPr/>
        <p:txBody>
          <a:bodyPr/>
          <a:lstStyle/>
          <a:p>
            <a:pPr algn="ctr"/>
            <a:r>
              <a:rPr lang="en-IN" dirty="0"/>
              <a:t>Approach</a:t>
            </a:r>
          </a:p>
        </p:txBody>
      </p:sp>
      <p:sp>
        <p:nvSpPr>
          <p:cNvPr id="3" name="Content Placeholder 2">
            <a:extLst>
              <a:ext uri="{FF2B5EF4-FFF2-40B4-BE49-F238E27FC236}">
                <a16:creationId xmlns:a16="http://schemas.microsoft.com/office/drawing/2014/main" id="{830EADE7-235B-7DC5-A7C6-399A4FDC6516}"/>
              </a:ext>
            </a:extLst>
          </p:cNvPr>
          <p:cNvSpPr>
            <a:spLocks noGrp="1"/>
          </p:cNvSpPr>
          <p:nvPr>
            <p:ph idx="1"/>
          </p:nvPr>
        </p:nvSpPr>
        <p:spPr>
          <a:xfrm>
            <a:off x="1154954" y="2603500"/>
            <a:ext cx="9789271" cy="3416300"/>
          </a:xfrm>
        </p:spPr>
        <p:txBody>
          <a:bodyPr/>
          <a:lstStyle/>
          <a:p>
            <a:r>
              <a:rPr lang="en-IN" dirty="0"/>
              <a:t>Source of data:</a:t>
            </a:r>
          </a:p>
          <a:p>
            <a:pPr lvl="1"/>
            <a:r>
              <a:rPr lang="en-IN" dirty="0">
                <a:hlinkClick r:id="rId2"/>
              </a:rPr>
              <a:t>https://data.world/indoagri/indian-year-wise-crop-production/workspace/file?filename=year_wise_indian_crop_production.csv</a:t>
            </a:r>
            <a:endParaRPr lang="en-IN" dirty="0"/>
          </a:p>
          <a:p>
            <a:pPr lvl="1"/>
            <a:r>
              <a:rPr lang="en-IN" dirty="0"/>
              <a:t>https://agricoop.nic.in/sites/default/files/pocketbook_0.pdf</a:t>
            </a:r>
          </a:p>
          <a:p>
            <a:pPr marL="0" indent="0">
              <a:buNone/>
            </a:pPr>
            <a:endParaRPr lang="en-IN" dirty="0"/>
          </a:p>
          <a:p>
            <a:r>
              <a:rPr lang="en-IN" dirty="0"/>
              <a:t>Language used: </a:t>
            </a:r>
            <a:r>
              <a:rPr lang="en-IN" sz="2000" b="1" dirty="0"/>
              <a:t>Python</a:t>
            </a:r>
          </a:p>
          <a:p>
            <a:r>
              <a:rPr lang="en-IN" dirty="0"/>
              <a:t>Tools used: </a:t>
            </a:r>
            <a:r>
              <a:rPr lang="en-IN" sz="2000" b="1" dirty="0"/>
              <a:t>sci-kit learn, numpy, pandas </a:t>
            </a:r>
            <a:endParaRPr lang="en-IN" b="1" dirty="0"/>
          </a:p>
        </p:txBody>
      </p:sp>
    </p:spTree>
    <p:extLst>
      <p:ext uri="{BB962C8B-B14F-4D97-AF65-F5344CB8AC3E}">
        <p14:creationId xmlns:p14="http://schemas.microsoft.com/office/powerpoint/2010/main" val="296166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AC834F-2098-DE6A-D3C8-1F03D4090699}"/>
              </a:ext>
            </a:extLst>
          </p:cNvPr>
          <p:cNvPicPr>
            <a:picLocks noChangeAspect="1"/>
          </p:cNvPicPr>
          <p:nvPr/>
        </p:nvPicPr>
        <p:blipFill>
          <a:blip r:embed="rId2"/>
          <a:stretch>
            <a:fillRect/>
          </a:stretch>
        </p:blipFill>
        <p:spPr>
          <a:xfrm>
            <a:off x="444209" y="1435019"/>
            <a:ext cx="11303581" cy="1257300"/>
          </a:xfrm>
          <a:prstGeom prst="rect">
            <a:avLst/>
          </a:prstGeom>
        </p:spPr>
      </p:pic>
      <p:sp>
        <p:nvSpPr>
          <p:cNvPr id="8" name="TextBox 7">
            <a:extLst>
              <a:ext uri="{FF2B5EF4-FFF2-40B4-BE49-F238E27FC236}">
                <a16:creationId xmlns:a16="http://schemas.microsoft.com/office/drawing/2014/main" id="{810E17F0-06FE-A767-6495-AD375DD549D7}"/>
              </a:ext>
            </a:extLst>
          </p:cNvPr>
          <p:cNvSpPr txBox="1"/>
          <p:nvPr/>
        </p:nvSpPr>
        <p:spPr>
          <a:xfrm>
            <a:off x="2228850" y="468657"/>
            <a:ext cx="6867525" cy="646331"/>
          </a:xfrm>
          <a:prstGeom prst="rect">
            <a:avLst/>
          </a:prstGeom>
          <a:noFill/>
        </p:spPr>
        <p:txBody>
          <a:bodyPr wrap="square" rtlCol="0">
            <a:spAutoFit/>
          </a:bodyPr>
          <a:lstStyle/>
          <a:p>
            <a:pPr algn="ctr"/>
            <a:r>
              <a:rPr lang="en-IN" sz="3600" b="1" dirty="0">
                <a:latin typeface="Arial Black" panose="020B0A04020102020204" pitchFamily="34" charset="0"/>
              </a:rPr>
              <a:t>Code</a:t>
            </a:r>
          </a:p>
        </p:txBody>
      </p:sp>
      <p:pic>
        <p:nvPicPr>
          <p:cNvPr id="12" name="Picture 11">
            <a:extLst>
              <a:ext uri="{FF2B5EF4-FFF2-40B4-BE49-F238E27FC236}">
                <a16:creationId xmlns:a16="http://schemas.microsoft.com/office/drawing/2014/main" id="{40B7E2B4-3FF9-0057-7E1D-9626E839E512}"/>
              </a:ext>
            </a:extLst>
          </p:cNvPr>
          <p:cNvPicPr>
            <a:picLocks noChangeAspect="1"/>
          </p:cNvPicPr>
          <p:nvPr/>
        </p:nvPicPr>
        <p:blipFill>
          <a:blip r:embed="rId3"/>
          <a:stretch>
            <a:fillRect/>
          </a:stretch>
        </p:blipFill>
        <p:spPr>
          <a:xfrm>
            <a:off x="444209" y="2892344"/>
            <a:ext cx="11589346" cy="3683189"/>
          </a:xfrm>
          <a:prstGeom prst="rect">
            <a:avLst/>
          </a:prstGeom>
        </p:spPr>
      </p:pic>
    </p:spTree>
    <p:extLst>
      <p:ext uri="{BB962C8B-B14F-4D97-AF65-F5344CB8AC3E}">
        <p14:creationId xmlns:p14="http://schemas.microsoft.com/office/powerpoint/2010/main" val="1824999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CB775B-1ACE-FFA7-99FA-C80421C2127B}"/>
              </a:ext>
            </a:extLst>
          </p:cNvPr>
          <p:cNvPicPr>
            <a:picLocks noChangeAspect="1"/>
          </p:cNvPicPr>
          <p:nvPr/>
        </p:nvPicPr>
        <p:blipFill>
          <a:blip r:embed="rId2"/>
          <a:stretch>
            <a:fillRect/>
          </a:stretch>
        </p:blipFill>
        <p:spPr>
          <a:xfrm>
            <a:off x="2236733" y="1148321"/>
            <a:ext cx="6661257" cy="5074759"/>
          </a:xfrm>
          <a:prstGeom prst="rect">
            <a:avLst/>
          </a:prstGeom>
        </p:spPr>
      </p:pic>
      <p:sp>
        <p:nvSpPr>
          <p:cNvPr id="5" name="TextBox 4">
            <a:extLst>
              <a:ext uri="{FF2B5EF4-FFF2-40B4-BE49-F238E27FC236}">
                <a16:creationId xmlns:a16="http://schemas.microsoft.com/office/drawing/2014/main" id="{471682F6-D899-7AC6-7A9C-227ED8BF83E6}"/>
              </a:ext>
            </a:extLst>
          </p:cNvPr>
          <p:cNvSpPr txBox="1"/>
          <p:nvPr/>
        </p:nvSpPr>
        <p:spPr>
          <a:xfrm>
            <a:off x="3733800" y="238125"/>
            <a:ext cx="3667125" cy="646331"/>
          </a:xfrm>
          <a:prstGeom prst="rect">
            <a:avLst/>
          </a:prstGeom>
          <a:noFill/>
        </p:spPr>
        <p:txBody>
          <a:bodyPr wrap="square" rtlCol="0">
            <a:spAutoFit/>
          </a:bodyPr>
          <a:lstStyle/>
          <a:p>
            <a:pPr algn="ctr"/>
            <a:r>
              <a:rPr lang="en-IN" sz="3600" b="1" dirty="0">
                <a:latin typeface="Arial Black" panose="020B0A04020102020204" pitchFamily="34" charset="0"/>
              </a:rPr>
              <a:t>Plot</a:t>
            </a:r>
          </a:p>
        </p:txBody>
      </p:sp>
    </p:spTree>
    <p:extLst>
      <p:ext uri="{BB962C8B-B14F-4D97-AF65-F5344CB8AC3E}">
        <p14:creationId xmlns:p14="http://schemas.microsoft.com/office/powerpoint/2010/main" val="2402875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75FE9-EFAF-9D94-0463-A98C8D53632B}"/>
              </a:ext>
            </a:extLst>
          </p:cNvPr>
          <p:cNvSpPr>
            <a:spLocks noGrp="1"/>
          </p:cNvSpPr>
          <p:nvPr>
            <p:ph type="ctrTitle"/>
          </p:nvPr>
        </p:nvSpPr>
        <p:spPr>
          <a:xfrm>
            <a:off x="1288305" y="2905124"/>
            <a:ext cx="8825658" cy="776881"/>
          </a:xfrm>
        </p:spPr>
        <p:txBody>
          <a:bodyPr/>
          <a:lstStyle/>
          <a:p>
            <a:pPr algn="ctr"/>
            <a:r>
              <a:rPr lang="en-IN" dirty="0">
                <a:latin typeface="Arial Black" panose="020B0A04020102020204" pitchFamily="34" charset="0"/>
              </a:rPr>
              <a:t>Thank you</a:t>
            </a:r>
          </a:p>
        </p:txBody>
      </p:sp>
    </p:spTree>
    <p:extLst>
      <p:ext uri="{BB962C8B-B14F-4D97-AF65-F5344CB8AC3E}">
        <p14:creationId xmlns:p14="http://schemas.microsoft.com/office/powerpoint/2010/main" val="3305648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228</TotalTime>
  <Words>355</Words>
  <Application>Microsoft Office PowerPoint</Application>
  <PresentationFormat>Widescreen</PresentationFormat>
  <Paragraphs>33</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arial</vt:lpstr>
      <vt:lpstr>Arial Black</vt:lpstr>
      <vt:lpstr>Calibri</vt:lpstr>
      <vt:lpstr>Century Gothic</vt:lpstr>
      <vt:lpstr>SourceSansPro</vt:lpstr>
      <vt:lpstr>urw-din</vt:lpstr>
      <vt:lpstr>Wingdings 3</vt:lpstr>
      <vt:lpstr>Ion Boardroom</vt:lpstr>
      <vt:lpstr>REGRESSION ANALYSIS</vt:lpstr>
      <vt:lpstr>Non – Linear Regression</vt:lpstr>
      <vt:lpstr>Polynomial Regression</vt:lpstr>
      <vt:lpstr>Model : Year-wise Crop production</vt:lpstr>
      <vt:lpstr>Approach</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ANALYSIS</dc:title>
  <dc:creator>harish mehta</dc:creator>
  <cp:lastModifiedBy>Kevalkumar Solanki</cp:lastModifiedBy>
  <cp:revision>3</cp:revision>
  <dcterms:created xsi:type="dcterms:W3CDTF">2022-06-11T15:16:11Z</dcterms:created>
  <dcterms:modified xsi:type="dcterms:W3CDTF">2022-06-11T19:07:54Z</dcterms:modified>
</cp:coreProperties>
</file>